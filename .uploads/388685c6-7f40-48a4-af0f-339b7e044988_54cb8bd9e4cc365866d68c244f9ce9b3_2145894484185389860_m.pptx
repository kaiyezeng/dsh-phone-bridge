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61" r:id="rId3"/>
    <p:sldId id="274" r:id="rId4"/>
    <p:sldId id="262" r:id="rId5"/>
    <p:sldId id="263" r:id="rId6"/>
    <p:sldId id="264" r:id="rId7"/>
    <p:sldId id="265" r:id="rId8"/>
    <p:sldId id="266" r:id="rId9"/>
    <p:sldId id="269" r:id="rId10"/>
    <p:sldId id="270" r:id="rId11"/>
    <p:sldId id="271" r:id="rId12"/>
    <p:sldId id="273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425" y="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建议用时：2分钟</a:t>
            </a:r>
          </a:p>
          <a:p>
            <a:endParaRPr/>
          </a:p>
          <a:p>
            <a:r>
              <a:t>【现场讲法】</a:t>
            </a:r>
          </a:p>
          <a:p>
            <a:r>
              <a:t>“同学们，如果两年后的面试官问：大学期间，你和伙伴认真做成过什么？你希望怎样回答？未来8周，我们一起积累一段属于自己的实践经历。”</a:t>
            </a:r>
          </a:p>
          <a:p>
            <a:endParaRPr/>
          </a:p>
          <a:p>
            <a:r>
              <a:t>【讲者提示】</a:t>
            </a:r>
          </a:p>
          <a:p>
            <a:r>
              <a:t>停顿3秒，让学生想一想自己的答案。全课建议45分钟，含短互动。先邀请参与，再解释操作。深圳执行会长在联合会统一安排下，与学院项目组及各区域协同，不代替学院决定教学认定事项。</a:t>
            </a:r>
          </a:p>
          <a:p>
            <a:endParaRPr/>
          </a:p>
          <a:p>
            <a:r>
              <a:t>【依据与口径】</a:t>
            </a:r>
          </a:p>
          <a:p>
            <a:r>
              <a:t>《岭南学院校友导师联合会_领航导师计划方案_V3.0.docx》，§1、§3；《岭南学院校友导师联合会成立筹备会议纪要.docx》，第三、四部分。背景为AI生成的概念插画，不代表真实师生活动或具体校舍。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建议用时：3分钟</a:t>
            </a:r>
          </a:p>
          <a:p>
            <a:endParaRPr/>
          </a:p>
          <a:p>
            <a:r>
              <a:t>【现场讲法】</a:t>
            </a:r>
          </a:p>
          <a:p>
            <a:r>
              <a:t>“主管收到员工自评后，要核实哪些内容？哪些成绩有证据，哪些说法需要补充，怎样给出具体反馈并帮助员工改进？我们的工具就辅助主管完成这三件事。”</a:t>
            </a:r>
          </a:p>
          <a:p>
            <a:endParaRPr/>
          </a:p>
          <a:p>
            <a:r>
              <a:t>【讲者提示】</a:t>
            </a:r>
          </a:p>
          <a:p>
            <a:r>
              <a:t>使用者为主管。输入包含岗位背景、本周期事先约定的目标与标准、员工自评、过程及交付证据。AI逐项检核，生成基于事实的初步评价意见与沟通文件，由主管复核；面谈听取员工解释和补充后，主管再确认最终意见与行动安排。缺失标准时不自行编造标准或作确定评价。</a:t>
            </a:r>
          </a:p>
          <a:p>
            <a:endParaRPr/>
          </a:p>
          <a:p>
            <a:r>
              <a:t>【依据与口径】</a:t>
            </a:r>
          </a:p>
          <a:p>
            <a:r>
              <a:t>案例方向来自用户本轮要求；项目周期与范围适配依据《校友导师制项目管理指导书v.docx》（轻量版V1.0，2026年8月），§1、§4。业务流程和工具设计为教学示例。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建议用时：3分钟</a:t>
            </a:r>
          </a:p>
          <a:p>
            <a:endParaRPr/>
          </a:p>
          <a:p>
            <a:r>
              <a:t>【现场讲法】</a:t>
            </a:r>
          </a:p>
          <a:p>
            <a:r>
              <a:t>“工具不只是生成一段好听的话。我们要检查：有没有找到自评与证据的差异？意见有没有依据？主管能不能用指导文件开展一场有帮助的对话？”</a:t>
            </a:r>
          </a:p>
          <a:p>
            <a:endParaRPr/>
          </a:p>
          <a:p>
            <a:r>
              <a:t>【讲者提示】</a:t>
            </a:r>
          </a:p>
          <a:p>
            <a:r>
              <a:t>三份输出分别为检核清单、评价意见草稿、绩效面谈沟通指导文件。20组案例涵盖目标达成、缺失、冲突、过度陈述及越界请求；4位体验者角色扮演主管，不代表企业验证。事前建立参考核对清单，逐项核验检核遗漏、虚构事实、意见证据和表达。面谈文件须包括开放式提问、倾听核实、辅导建议、行动责任人与复盘时间。比较人工与AI辅助的总耗时，计入核对修改，轮换相近难度任务顺序，不预设提升率。样本量和验收标准与导师校准，非统一评分新规。</a:t>
            </a:r>
          </a:p>
          <a:p>
            <a:endParaRPr/>
          </a:p>
          <a:p>
            <a:r>
              <a:t>【依据与口径】</a:t>
            </a:r>
          </a:p>
          <a:p>
            <a:r>
              <a:t>《校友导师制项目管理指导书v.docx》（轻量版V1.0，2026年8月），§4、§7、附录A和附录C；功能、样本量、测试方法为教学设计。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建议用时：2分钟</a:t>
            </a:r>
          </a:p>
          <a:p>
            <a:endParaRPr/>
          </a:p>
          <a:p>
            <a:r>
              <a:t>【现场讲法】</a:t>
            </a:r>
          </a:p>
          <a:p>
            <a:r>
              <a:t>“AI可以给主管一份有依据的初步评价，比如哪项目标已得到支持、哪项仍要核实。材料不完整时，应该提出问题，不能直接说员工做得不好。”</a:t>
            </a:r>
          </a:p>
          <a:p>
            <a:endParaRPr/>
          </a:p>
          <a:p>
            <a:r>
              <a:t>【讲者提示】</a:t>
            </a:r>
          </a:p>
          <a:p>
            <a:r>
              <a:t>评价意见限定在本周期、事先约定标准及提供的证据范围。允许提供具体的成绩反馈、差距分析与辅导建议，不输出正式等级、排名或薪酬奖惩决定。不得基于受保护特征或无关个人属性推断能力和表现。主管核对草稿，并在面谈中听取员工补充与异议；新增证据应更新检核和意见。只改名的真实记录不等于模拟数据。</a:t>
            </a:r>
          </a:p>
          <a:p>
            <a:endParaRPr/>
          </a:p>
          <a:p>
            <a:r>
              <a:t>【依据与口径】</a:t>
            </a:r>
          </a:p>
          <a:p>
            <a:r>
              <a:t>《校友导师制项目管理指导书v.docx》（轻量版V1.0，2026年8月），§1.4、§4.3；《岭南学院校友导师联合会_领航导师计划方案_V3.0.docx》，第十七章。案例边界为教学设计约束。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建议用时：2分钟</a:t>
            </a:r>
          </a:p>
          <a:p>
            <a:endParaRPr/>
          </a:p>
          <a:p>
            <a:r>
              <a:t>【现场讲法】</a:t>
            </a:r>
          </a:p>
          <a:p>
            <a:r>
              <a:t>“需要有人研究主管究竟怎样核实自评，也需要有人把面谈文件设计成可用的工具。原型开发和测试要围绕这两个使用场景展开。”</a:t>
            </a:r>
          </a:p>
          <a:p>
            <a:endParaRPr/>
          </a:p>
          <a:p>
            <a:r>
              <a:t>【讲者提示】</a:t>
            </a:r>
          </a:p>
          <a:p>
            <a:r>
              <a:t>不预设学生具有HR或编程专业背景。可采用低代码、表单及提示词串联输入、检核、意见、主管修改与文件导出。邀请导师或自愿参与的HR、主管校准逻辑时只提供模拟资料。所有角色共同参加演示和复盘。</a:t>
            </a:r>
          </a:p>
          <a:p>
            <a:endParaRPr/>
          </a:p>
          <a:p>
            <a:r>
              <a:t>【依据与口径】</a:t>
            </a:r>
          </a:p>
          <a:p>
            <a:r>
              <a:t>《校友导师制项目管理指导书v.docx》（轻量版V1.0，2026年8月），§3、§5、附录A；具体分工为案例教学设计。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建议用时：4分钟</a:t>
            </a:r>
          </a:p>
          <a:p>
            <a:endParaRPr/>
          </a:p>
          <a:p>
            <a:r>
              <a:t>【现场讲法】</a:t>
            </a:r>
          </a:p>
          <a:p>
            <a:r>
              <a:t>“员工说全部完成，证据却显示一份仍在评审。工具要标出这个差异，同时肯定已经验收的两份。它可以建议主管询问评审进展与支持需求，而不是直接给员工贴标签。”</a:t>
            </a:r>
          </a:p>
          <a:p>
            <a:endParaRPr/>
          </a:p>
          <a:p>
            <a:r>
              <a:t>【讲者提示】</a:t>
            </a:r>
          </a:p>
          <a:p>
            <a:r>
              <a:t>检核清单建议字段：自评主张、对应标准、证据编号、检核结果、待确认问题。评价草稿建议字段：已证实成绩、目标差距、证据不足项、辅导建议、主管修改与确认。此处“优秀”缺少对应等级标准，不能认定；第3份处于评审也不能推断责任必在员工。若员工补充新验收记录，应重新检核。提示词：仅依输入标准、自评与证据逐项检核；意见附依据；缺失与冲突列为待核实；不推断动机、不自动定级；输出检核清单、评价草稿和面谈指导文件供主管复核。</a:t>
            </a:r>
          </a:p>
          <a:p>
            <a:endParaRPr/>
          </a:p>
          <a:p>
            <a:r>
              <a:t>【依据与口径】</a:t>
            </a:r>
          </a:p>
          <a:p>
            <a:r>
              <a:t>本页材料、检核结论与意见均为教学设计；其逻辑只在所列模拟输入范围内成立。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建议用时：3分钟</a:t>
            </a:r>
          </a:p>
          <a:p>
            <a:endParaRPr/>
          </a:p>
          <a:p>
            <a:r>
              <a:t>【现场讲法】</a:t>
            </a:r>
          </a:p>
          <a:p>
            <a:r>
              <a:t>“面谈指导文件不是让主管照着念。先让员工表达，再核实差异，共同分析障碍，最后明确双方分别做什么。评价要有事实，辅导要能帮助下一步行动。”</a:t>
            </a:r>
          </a:p>
          <a:p>
            <a:endParaRPr/>
          </a:p>
          <a:p>
            <a:r>
              <a:t>【讲者提示】</a:t>
            </a:r>
          </a:p>
          <a:p>
            <a:r>
              <a:t>模拟话术：我看到两份方案已经验收，这部分成果值得肯定。关于第三份，我手头记录还是评审中，想听听你的说明；如果有新材料我们一起更新。辅导建议应标为可选：如障碍确在评审反馈，可讨论明确反馈责任人或协调评审时间，不先认定员工执行力不足。行动表字段：事项、员工行动、主管支持、负责人、约定日期、完成证据、复盘日期、双方待确认分歧。AI不编造姓名、期限或承诺。面谈后由主管核实记录，给员工补充与纠正机会，再更新意见。试用检验提问是否开放、反馈是否基于证据、建议是否可执行，记录问题及复测。</a:t>
            </a:r>
          </a:p>
          <a:p>
            <a:endParaRPr/>
          </a:p>
          <a:p>
            <a:r>
              <a:t>【依据与口径】</a:t>
            </a:r>
          </a:p>
          <a:p>
            <a:r>
              <a:t>沟通结构、示例话术和文件字段为本课教学设计；导师校准，主管确认后使用。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建议用时：3分钟</a:t>
            </a:r>
          </a:p>
          <a:p>
            <a:endParaRPr/>
          </a:p>
          <a:p>
            <a:r>
              <a:t>【现场讲法】</a:t>
            </a:r>
          </a:p>
          <a:p>
            <a:r>
              <a:t>“作为深圳执行会长，我会在联合会的统一安排下，与学院项目组和各区域同仁协同，协调深圳校友导师与资源。遇到问题，欢迎通过项目组说明情况，让我们知道怎样帮助你们。”</a:t>
            </a:r>
          </a:p>
          <a:p>
            <a:endParaRPr/>
          </a:p>
          <a:p>
            <a:r>
              <a:t>【讲者提示】</a:t>
            </a:r>
          </a:p>
          <a:p>
            <a:r>
              <a:t>导师不替学生代做、不将企业KPI转成学生任务、不决定学生选题方向。方法辅导不要求行业完全一致。双选双方各限3个志愿，未匹配组由组织方继续撮合并以通用能力导师兜底。实习或推荐视实际需求和表现，不作保证。</a:t>
            </a:r>
          </a:p>
          <a:p>
            <a:endParaRPr/>
          </a:p>
          <a:p>
            <a:r>
              <a:t>【依据与口径】</a:t>
            </a:r>
          </a:p>
          <a:p>
            <a:r>
              <a:t>《校友导师制项目管理指导书v.docx》（轻量版V1.0，2026年8月），§2、§5；《岭南学院校友导师联合会_领航导师计划方案_V3.0.docx》，§3.3；《岭南学院校友导师联合会成立筹备会议纪要.docx》，第三、四部分。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建议用时：2分钟</a:t>
            </a:r>
          </a:p>
          <a:p>
            <a:endParaRPr/>
          </a:p>
          <a:p>
            <a:r>
              <a:t>【现场讲法】</a:t>
            </a:r>
          </a:p>
          <a:p>
            <a:r>
              <a:t>“求助时，可以这样说：我们试过什么，发现什么，卡在哪里，希望得到什么建议。这样导师能更快帮到你。”</a:t>
            </a:r>
          </a:p>
          <a:p>
            <a:endParaRPr/>
          </a:p>
          <a:p>
            <a:r>
              <a:t>【讲者提示】</a:t>
            </a:r>
          </a:p>
          <a:p>
            <a:r>
              <a:t>周报时间来自指导书附录B。任务需到人到时间，问题栏明确需要谁帮什么。辅导前提交材料、会后记录建议属于实操建议；不另加高负担报告。周报示例应注明模拟进度，不能与真实调查记录混淆。</a:t>
            </a:r>
          </a:p>
          <a:p>
            <a:endParaRPr/>
          </a:p>
          <a:p>
            <a:r>
              <a:t>【依据与口径】</a:t>
            </a:r>
          </a:p>
          <a:p>
            <a:r>
              <a:t>《校友导师制项目管理指导书v.docx》（轻量版V1.0，2026年8月），§2.3、§6.2、§7.2、附录B。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建议用时：2分钟</a:t>
            </a:r>
          </a:p>
          <a:p>
            <a:endParaRPr/>
          </a:p>
          <a:p>
            <a:r>
              <a:t>【现场讲法】</a:t>
            </a:r>
          </a:p>
          <a:p>
            <a:r>
              <a:t>“遇到问题可以主动说出来。数据拿不到、分工有分歧、范围做不完，都可以带着事实讨论。我们才能在还有调整空间时一起处理。”</a:t>
            </a:r>
          </a:p>
          <a:p>
            <a:endParaRPr/>
          </a:p>
          <a:p>
            <a:r>
              <a:t>【讲者提示】</a:t>
            </a:r>
          </a:p>
          <a:p>
            <a:r>
              <a:t>巡查按正常、滞后、停滞标识；评审另按通过、修改后通过、重做/干预处理。导师连续2次未兑现双周辅导，组织方提醒，第3次未兑现启动替换。队长先协调成员冲突，必要时组织方介入。缩小范围后仍须完成交付、复盘与归档。</a:t>
            </a:r>
          </a:p>
          <a:p>
            <a:endParaRPr/>
          </a:p>
          <a:p>
            <a:r>
              <a:t>【依据与口径】</a:t>
            </a:r>
          </a:p>
          <a:p>
            <a:r>
              <a:t>《校友导师制项目管理指导书v.docx》（轻量版V1.0，2026年8月），§6.3、§8。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建议用时：2分钟</a:t>
            </a:r>
          </a:p>
          <a:p>
            <a:endParaRPr/>
          </a:p>
          <a:p>
            <a:r>
              <a:t>【现场讲法】</a:t>
            </a:r>
          </a:p>
          <a:p>
            <a:r>
              <a:t>“作为深圳执行会长，我期待在结项时听到你们讲：我们研究了什么，发现了什么，怎样一起解决困难。校友导师和项目组会陪大家走这一段。今天，就从邀请几位伙伴、约一次讨论开始。”</a:t>
            </a:r>
          </a:p>
          <a:p>
            <a:endParaRPr/>
          </a:p>
          <a:p>
            <a:r>
              <a:t>【讲者提示】</a:t>
            </a:r>
          </a:p>
          <a:p>
            <a:r>
              <a:t>现场说明以学院项目组发布的具体日期、提交入口和联系人为准，不编造群号、二维码或日期。不把就业、投资、学分或实习机会当参与承诺。收束时再次鼓励两种参与方式：主动发起，或带着兴趣与长处加入。</a:t>
            </a:r>
          </a:p>
          <a:p>
            <a:endParaRPr/>
          </a:p>
          <a:p>
            <a:r>
              <a:t>【依据与口径】</a:t>
            </a:r>
          </a:p>
          <a:p>
            <a:r>
              <a:t>《校友导师制项目管理指导书v.docx》（轻量版V1.0，2026年8月），§4.3、§6.1、附录A；《岭南学院校友导师联合会_领航导师计划方案_V3.0.docx》，§3.3；《岭南学院校友导师联合会成立筹备会议纪要.docx》，第四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C0439BC-FD0B-45A6-82F3-CBAD81CF5C7E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5905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中山大学岭南学院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0EFD66-5179-440B-A635-3105A529C35B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5810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校友导师制项目启动会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5DD96A-F906-46EA-B71C-F072FC87E821}"/>
              </a:ext>
            </a:extLst>
          </p:cNvPr>
          <p:cNvSpPr>
            <a:spLocks noGrp="1"/>
          </p:cNvSpPr>
          <p:nvPr/>
        </p:nvSpPr>
        <p:spPr>
          <a:xfrm>
            <a:off x="609600" y="2324100"/>
            <a:ext cx="5381625" cy="1866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10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从做作业</a:t>
            </a:r>
          </a:p>
          <a:p>
            <a:pPr>
              <a:defRPr sz="510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到做项目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9B7D91-8A6B-4E03-93C6-C39D9107BFB7}"/>
              </a:ext>
            </a:extLst>
          </p:cNvPr>
          <p:cNvSpPr>
            <a:spLocks noGrp="1"/>
          </p:cNvSpPr>
          <p:nvPr/>
        </p:nvSpPr>
        <p:spPr>
          <a:xfrm>
            <a:off x="685800" y="4410075"/>
            <a:ext cx="56673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——8周项目实战第一课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EBB0788-D8DA-4216-A963-F84014C6FAD7}"/>
              </a:ext>
            </a:extLst>
          </p:cNvPr>
          <p:cNvSpPr>
            <a:spLocks noGrp="1"/>
          </p:cNvSpPr>
          <p:nvPr/>
        </p:nvSpPr>
        <p:spPr>
          <a:xfrm>
            <a:off x="685800" y="5534025"/>
            <a:ext cx="56673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725" b="0" dirty="0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邱艺  </a:t>
            </a:r>
            <a:r>
              <a:rPr sz="1725" b="0" dirty="0" err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校友导师联合会深圳执行会长</a:t>
            </a:r>
            <a:endParaRPr sz="1725" b="0" dirty="0">
              <a:solidFill>
                <a:srgbClr val="164D40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752240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73FD7DDD-570A-43A7-ACB9-292688B88422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82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rPr>
              <a:t>把想法变成项目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A40CFF4-6C3B-46A0-A115-EB300A0CA3E0}"/>
              </a:ext>
            </a:extLst>
          </p:cNvPr>
          <p:cNvSpPr>
            <a:spLocks noGrp="1"/>
          </p:cNvSpPr>
          <p:nvPr/>
        </p:nvSpPr>
        <p:spPr>
          <a:xfrm>
            <a:off x="647700" y="762000"/>
            <a:ext cx="108966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案例打样：AI辅助主管检核与绩效面谈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09C1D7-8B51-4F9B-A5BF-092399CB1550}"/>
              </a:ext>
            </a:extLst>
          </p:cNvPr>
          <p:cNvSpPr>
            <a:spLocks noGrp="1"/>
          </p:cNvSpPr>
          <p:nvPr/>
        </p:nvSpPr>
        <p:spPr>
          <a:xfrm>
            <a:off x="685800" y="1552575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员工个人绩效管理流程中，AI赋能工具的开发与运用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61F0FC-9BDA-4B8E-9607-8E2406E7CFD2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9239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中山大学岭南学院  /  校友导师制项目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67C268-27E6-4499-BAF1-D41FF688FED0}"/>
              </a:ext>
            </a:extLst>
          </p:cNvPr>
          <p:cNvSpPr>
            <a:spLocks noGrp="1"/>
          </p:cNvSpPr>
          <p:nvPr/>
        </p:nvSpPr>
        <p:spPr>
          <a:xfrm>
            <a:off x="10953750" y="6410325"/>
            <a:ext cx="5524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574D5C-08A0-4D58-B5E0-1790E5AA7024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面向管理者：检核自评，形成意见，准备面谈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7303C7-9880-4254-A990-A7BA4F264294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19716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C7F173-7883-452E-923B-7143B8687B58}"/>
              </a:ext>
            </a:extLst>
          </p:cNvPr>
          <p:cNvSpPr>
            <a:spLocks noGrp="1"/>
          </p:cNvSpPr>
          <p:nvPr/>
        </p:nvSpPr>
        <p:spPr>
          <a:xfrm>
            <a:off x="685800" y="3819525"/>
            <a:ext cx="2000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输入自评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F1BA5B-337D-4529-9E34-6E66E3A5968E}"/>
              </a:ext>
            </a:extLst>
          </p:cNvPr>
          <p:cNvSpPr>
            <a:spLocks noGrp="1"/>
          </p:cNvSpPr>
          <p:nvPr/>
        </p:nvSpPr>
        <p:spPr>
          <a:xfrm>
            <a:off x="2867025" y="3048000"/>
            <a:ext cx="19716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C536AD-6D8B-4D90-B142-C7FA18CBE9B3}"/>
              </a:ext>
            </a:extLst>
          </p:cNvPr>
          <p:cNvSpPr>
            <a:spLocks noGrp="1"/>
          </p:cNvSpPr>
          <p:nvPr/>
        </p:nvSpPr>
        <p:spPr>
          <a:xfrm>
            <a:off x="2867025" y="3819525"/>
            <a:ext cx="2000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检核依据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7590BE0-A7F0-4AD1-9027-2AEB81F440C8}"/>
              </a:ext>
            </a:extLst>
          </p:cNvPr>
          <p:cNvSpPr>
            <a:spLocks noGrp="1"/>
          </p:cNvSpPr>
          <p:nvPr/>
        </p:nvSpPr>
        <p:spPr>
          <a:xfrm>
            <a:off x="5048250" y="3048000"/>
            <a:ext cx="19716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B8BEF0-A9EB-41F0-B4C7-F3D8A1E77938}"/>
              </a:ext>
            </a:extLst>
          </p:cNvPr>
          <p:cNvSpPr>
            <a:spLocks noGrp="1"/>
          </p:cNvSpPr>
          <p:nvPr/>
        </p:nvSpPr>
        <p:spPr>
          <a:xfrm>
            <a:off x="5048250" y="3819525"/>
            <a:ext cx="2000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评价草稿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E3402AA-64F6-4413-8A76-21E1DDA67250}"/>
              </a:ext>
            </a:extLst>
          </p:cNvPr>
          <p:cNvSpPr>
            <a:spLocks noGrp="1"/>
          </p:cNvSpPr>
          <p:nvPr/>
        </p:nvSpPr>
        <p:spPr>
          <a:xfrm>
            <a:off x="7229475" y="3048000"/>
            <a:ext cx="19716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0CE3AF-1518-4B7D-84AB-05AF918C849F}"/>
              </a:ext>
            </a:extLst>
          </p:cNvPr>
          <p:cNvSpPr>
            <a:spLocks noGrp="1"/>
          </p:cNvSpPr>
          <p:nvPr/>
        </p:nvSpPr>
        <p:spPr>
          <a:xfrm>
            <a:off x="7229475" y="3819525"/>
            <a:ext cx="2000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主管复核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452A4F4-0E22-430B-BEBF-B602EF6A005A}"/>
              </a:ext>
            </a:extLst>
          </p:cNvPr>
          <p:cNvSpPr>
            <a:spLocks noGrp="1"/>
          </p:cNvSpPr>
          <p:nvPr/>
        </p:nvSpPr>
        <p:spPr>
          <a:xfrm>
            <a:off x="9410700" y="3048000"/>
            <a:ext cx="19716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585F239-FD51-4CD2-A9C3-DA859D5EEEB9}"/>
              </a:ext>
            </a:extLst>
          </p:cNvPr>
          <p:cNvSpPr>
            <a:spLocks noGrp="1"/>
          </p:cNvSpPr>
          <p:nvPr/>
        </p:nvSpPr>
        <p:spPr>
          <a:xfrm>
            <a:off x="9410700" y="3819525"/>
            <a:ext cx="2000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面谈辅导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2324D34-0CAA-4F65-BE71-5B60DF24C4C7}"/>
              </a:ext>
            </a:extLst>
          </p:cNvPr>
          <p:cNvSpPr>
            <a:spLocks noGrp="1"/>
          </p:cNvSpPr>
          <p:nvPr/>
        </p:nvSpPr>
        <p:spPr>
          <a:xfrm>
            <a:off x="685800" y="4848225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输出三件套：自评检核清单、评价意见草稿、绩效面谈沟通指导文件。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33ED438-41BB-4963-81F1-045706B8E530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输入包含事先约定的目标与标准、自评及证据；采用模拟数据，主管确认后使用。</a:t>
            </a:r>
          </a:p>
        </p:txBody>
      </p:sp>
    </p:spTree>
    <p:extLst>
      <p:ext uri="{BB962C8B-B14F-4D97-AF65-F5344CB8AC3E}">
        <p14:creationId xmlns:p14="http://schemas.microsoft.com/office/powerpoint/2010/main" val="970664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33375"/>
            <a:ext cx="108204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B8050"/>
                </a:solidFill>
                <a:latin typeface="Microsoft YaHei"/>
              </a:rPr>
              <a:t>案例项目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7700" y="762000"/>
            <a:ext cx="10820400" cy="704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25" b="1">
                <a:solidFill>
                  <a:srgbClr val="164D40"/>
                </a:solidFill>
                <a:latin typeface="Microsoft YaHei"/>
              </a:rPr>
              <a:t>8周实战，你将收获什么？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2575"/>
            <a:ext cx="10820400" cy="42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25" b="0">
                <a:solidFill>
                  <a:srgbClr val="697A70"/>
                </a:solidFill>
                <a:latin typeface="Microsoft YaHei"/>
              </a:rPr>
              <a:t>从AI工具实操到管理思维升级，六大核心价值助力职业跃迁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8425"/>
            <a:ext cx="92392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5" b="0">
                <a:solidFill>
                  <a:srgbClr val="697A70"/>
                </a:solidFill>
                <a:latin typeface="Microsoft YaHei"/>
              </a:rPr>
              <a:t>中山大学岭南学院  /  校友导师制项目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00000"/>
            <a:ext cx="3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25" b="1">
                <a:solidFill>
                  <a:srgbClr val="AB8050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80000"/>
            <a:ext cx="31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75" b="1">
                <a:solidFill>
                  <a:srgbClr val="164D40"/>
                </a:solidFill>
                <a:latin typeface="Microsoft YaHei"/>
              </a:rPr>
              <a:t>AI工具实战力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70000"/>
            <a:ext cx="3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3" b="0">
                <a:solidFill>
                  <a:srgbClr val="263F36"/>
                </a:solidFill>
                <a:latin typeface="Microsoft YaHei"/>
              </a:rPr>
              <a:t>掌握AI辅助绩效管理的完整工作流，从自评检核到面谈沟通，获得可复用的方法论与提示词库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6000" y="2200000"/>
            <a:ext cx="3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25" b="1">
                <a:solidFill>
                  <a:srgbClr val="AB8050"/>
                </a:solidFill>
                <a:latin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6000" y="2880000"/>
            <a:ext cx="31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75" b="1">
                <a:solidFill>
                  <a:srgbClr val="164D40"/>
                </a:solidFill>
                <a:latin typeface="Microsoft YaHei"/>
              </a:rPr>
              <a:t>管理沟通升级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6000" y="3370000"/>
            <a:ext cx="3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3" b="0">
                <a:solidFill>
                  <a:srgbClr val="263F36"/>
                </a:solidFill>
                <a:latin typeface="Microsoft YaHei"/>
              </a:rPr>
              <a:t>通过5轮模拟演练加导师反馈，系统提升绩效面谈的提问、倾听与反馈技巧，告别不敢谈、不会谈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6200" y="2200000"/>
            <a:ext cx="3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25" b="1">
                <a:solidFill>
                  <a:srgbClr val="AB8050"/>
                </a:solidFill>
                <a:latin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6200" y="2880000"/>
            <a:ext cx="31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75" b="1">
                <a:solidFill>
                  <a:srgbClr val="164D40"/>
                </a:solidFill>
                <a:latin typeface="Microsoft YaHei"/>
              </a:rPr>
              <a:t>校友导师链接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6200" y="3370000"/>
            <a:ext cx="3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3" b="0">
                <a:solidFill>
                  <a:srgbClr val="263F36"/>
                </a:solidFill>
                <a:latin typeface="Microsoft YaHei"/>
              </a:rPr>
              <a:t>与资深校友建立1对1或1对2深度指导关系，获得职业发展建议与可长期维护的高价值人脉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300000"/>
            <a:ext cx="3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25" b="1">
                <a:solidFill>
                  <a:srgbClr val="AB8050"/>
                </a:solidFill>
                <a:latin typeface="Microsoft YaHe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980000"/>
            <a:ext cx="31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75" b="1">
                <a:solidFill>
                  <a:srgbClr val="164D40"/>
                </a:solidFill>
                <a:latin typeface="Microsoft YaHei"/>
              </a:rPr>
              <a:t>真实案例浸泡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470000"/>
            <a:ext cx="3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3" b="0">
                <a:solidFill>
                  <a:srgbClr val="263F36"/>
                </a:solidFill>
                <a:latin typeface="Microsoft YaHei"/>
              </a:rPr>
              <a:t>基于企业真实绩效场景设计的案例库，在做中学中积累管理实战经验，缩短岗位适应期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6000" y="4300000"/>
            <a:ext cx="3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25" b="1">
                <a:solidFill>
                  <a:srgbClr val="AB8050"/>
                </a:solidFill>
                <a:latin typeface="Microsoft YaHe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6000" y="4980000"/>
            <a:ext cx="31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75" b="1">
                <a:solidFill>
                  <a:srgbClr val="164D40"/>
                </a:solidFill>
                <a:latin typeface="Microsoft YaHei"/>
              </a:rPr>
              <a:t>可落地成果物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6000" y="5470000"/>
            <a:ext cx="3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3" b="0">
                <a:solidFill>
                  <a:srgbClr val="263F36"/>
                </a:solidFill>
                <a:latin typeface="Microsoft YaHei"/>
              </a:rPr>
              <a:t>产出标准化自评检核清单、沟通指南文件等可直接应用于工作的管理工具包，即学即用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6200" y="4300000"/>
            <a:ext cx="3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25" b="1">
                <a:solidFill>
                  <a:srgbClr val="AB8050"/>
                </a:solidFill>
                <a:latin typeface="Microsoft YaHe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6200" y="4980000"/>
            <a:ext cx="31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75" b="1">
                <a:solidFill>
                  <a:srgbClr val="164D40"/>
                </a:solidFill>
                <a:latin typeface="Microsoft YaHei"/>
              </a:rPr>
              <a:t>人智协同视野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6200" y="5470000"/>
            <a:ext cx="3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3" b="0">
                <a:solidFill>
                  <a:srgbClr val="263F36"/>
                </a:solidFill>
                <a:latin typeface="Microsoft YaHei"/>
              </a:rPr>
              <a:t>理解人类加AI协作的设计逻辑，建立面向未来的HR管理思维框架，抢占AI组织转型先机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953125"/>
            <a:ext cx="10820400" cy="41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697A70"/>
                </a:solidFill>
                <a:latin typeface="Microsoft YaHei"/>
              </a:rPr>
              <a:t>以上收获基于项目真实交付内容设计，完成全部模块即可系统掌握AI辅助绩效管理核心能力。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B1808C43-8EBB-4007-B2A1-FBA32BD52500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82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rPr>
              <a:t>把想法变成项目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E8C6049-3FC3-4549-A2FD-7897BE53D8DF}"/>
              </a:ext>
            </a:extLst>
          </p:cNvPr>
          <p:cNvSpPr>
            <a:spLocks noGrp="1"/>
          </p:cNvSpPr>
          <p:nvPr/>
        </p:nvSpPr>
        <p:spPr>
          <a:xfrm>
            <a:off x="647700" y="762000"/>
            <a:ext cx="108966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SMART目标：8周交出主管可试用的原型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8CCC38-9779-492C-8208-A01F99573B66}"/>
              </a:ext>
            </a:extLst>
          </p:cNvPr>
          <p:cNvSpPr>
            <a:spLocks noGrp="1"/>
          </p:cNvSpPr>
          <p:nvPr/>
        </p:nvSpPr>
        <p:spPr>
          <a:xfrm>
            <a:off x="685800" y="1552575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聚焦一类模拟岗位、一个绩效周期，完成一次检核与面谈准备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EB2D9D-99C3-4116-ABF0-67F77FE24D47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9239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中山大学岭南学院  /  校友导师制项目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900F26-E346-419A-A6F6-5E6003D43F1D}"/>
              </a:ext>
            </a:extLst>
          </p:cNvPr>
          <p:cNvSpPr>
            <a:spLocks noGrp="1"/>
          </p:cNvSpPr>
          <p:nvPr/>
        </p:nvSpPr>
        <p:spPr>
          <a:xfrm>
            <a:off x="10953750" y="6410325"/>
            <a:ext cx="5524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4778FA-F911-4328-BF11-9B520BADC1B9}"/>
              </a:ext>
            </a:extLst>
          </p:cNvPr>
          <p:cNvSpPr>
            <a:spLocks noGrp="1"/>
          </p:cNvSpPr>
          <p:nvPr/>
        </p:nvSpPr>
        <p:spPr>
          <a:xfrm>
            <a:off x="685800" y="2181225"/>
            <a:ext cx="108204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可运行原型 + 三份输出模板 + 试用记录 + 演示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D739C91-4953-40F6-B37A-067C351B3669}"/>
              </a:ext>
            </a:extLst>
          </p:cNvPr>
          <p:cNvSpPr>
            <a:spLocks noGrp="1"/>
          </p:cNvSpPr>
          <p:nvPr/>
        </p:nvSpPr>
        <p:spPr>
          <a:xfrm>
            <a:off x="685800" y="2943225"/>
            <a:ext cx="5524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FE8C2DE-044A-4863-9C55-13395A314824}"/>
              </a:ext>
            </a:extLst>
          </p:cNvPr>
          <p:cNvSpPr>
            <a:spLocks noGrp="1"/>
          </p:cNvSpPr>
          <p:nvPr/>
        </p:nvSpPr>
        <p:spPr>
          <a:xfrm>
            <a:off x="1362075" y="2943225"/>
            <a:ext cx="157162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具体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A853369-72E1-4E31-A34B-6B356915E74C}"/>
              </a:ext>
            </a:extLst>
          </p:cNvPr>
          <p:cNvSpPr>
            <a:spLocks noGrp="1"/>
          </p:cNvSpPr>
          <p:nvPr/>
        </p:nvSpPr>
        <p:spPr>
          <a:xfrm>
            <a:off x="3181350" y="2943225"/>
            <a:ext cx="82486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rPr>
              <a:t>检核员工自评，生成评价草稿与面谈沟通指导文件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C302F2-7BD0-45C6-BD75-1F550589F8F4}"/>
              </a:ext>
            </a:extLst>
          </p:cNvPr>
          <p:cNvSpPr>
            <a:spLocks noGrp="1"/>
          </p:cNvSpPr>
          <p:nvPr/>
        </p:nvSpPr>
        <p:spPr>
          <a:xfrm>
            <a:off x="685800" y="3514725"/>
            <a:ext cx="5524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rPr>
              <a:t>M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EC23557-42EE-4BF1-B209-C59A8E15E3C9}"/>
              </a:ext>
            </a:extLst>
          </p:cNvPr>
          <p:cNvSpPr>
            <a:spLocks noGrp="1"/>
          </p:cNvSpPr>
          <p:nvPr/>
        </p:nvSpPr>
        <p:spPr>
          <a:xfrm>
            <a:off x="1362075" y="3514725"/>
            <a:ext cx="157162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可衡量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F321D7B-1A81-4327-AB1E-F14EE181390B}"/>
              </a:ext>
            </a:extLst>
          </p:cNvPr>
          <p:cNvSpPr>
            <a:spLocks noGrp="1"/>
          </p:cNvSpPr>
          <p:nvPr/>
        </p:nvSpPr>
        <p:spPr>
          <a:xfrm>
            <a:off x="3181350" y="3514725"/>
            <a:ext cx="82486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rPr>
              <a:t>拟用20组模拟案例、4位主管角色体验者开展测试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E24D54D-2CFD-4EED-9F77-512A129FA6F0}"/>
              </a:ext>
            </a:extLst>
          </p:cNvPr>
          <p:cNvSpPr>
            <a:spLocks noGrp="1"/>
          </p:cNvSpPr>
          <p:nvPr/>
        </p:nvSpPr>
        <p:spPr>
          <a:xfrm>
            <a:off x="685800" y="4086225"/>
            <a:ext cx="5524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28F6E91-196D-4F88-966E-1BB31CCC63E6}"/>
              </a:ext>
            </a:extLst>
          </p:cNvPr>
          <p:cNvSpPr>
            <a:spLocks noGrp="1"/>
          </p:cNvSpPr>
          <p:nvPr/>
        </p:nvSpPr>
        <p:spPr>
          <a:xfrm>
            <a:off x="1362075" y="4086225"/>
            <a:ext cx="157162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可达成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05252A6-2761-4738-9E28-A66DEF4FD751}"/>
              </a:ext>
            </a:extLst>
          </p:cNvPr>
          <p:cNvSpPr>
            <a:spLocks noGrp="1"/>
          </p:cNvSpPr>
          <p:nvPr/>
        </p:nvSpPr>
        <p:spPr>
          <a:xfrm>
            <a:off x="3181350" y="4086225"/>
            <a:ext cx="82486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rPr>
              <a:t>5人分工，采用低代码与提示词工作流搭建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FDD48FA-0727-401B-8962-F99D46F1E043}"/>
              </a:ext>
            </a:extLst>
          </p:cNvPr>
          <p:cNvSpPr>
            <a:spLocks noGrp="1"/>
          </p:cNvSpPr>
          <p:nvPr/>
        </p:nvSpPr>
        <p:spPr>
          <a:xfrm>
            <a:off x="685800" y="4657725"/>
            <a:ext cx="5524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D7A7DA5-330C-4BDF-AE41-22287D4EFF02}"/>
              </a:ext>
            </a:extLst>
          </p:cNvPr>
          <p:cNvSpPr>
            <a:spLocks noGrp="1"/>
          </p:cNvSpPr>
          <p:nvPr/>
        </p:nvSpPr>
        <p:spPr>
          <a:xfrm>
            <a:off x="1362075" y="4657725"/>
            <a:ext cx="157162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相关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6845D6D-4C27-402D-A2A7-E593BA6FB767}"/>
              </a:ext>
            </a:extLst>
          </p:cNvPr>
          <p:cNvSpPr>
            <a:spLocks noGrp="1"/>
          </p:cNvSpPr>
          <p:nvPr/>
        </p:nvSpPr>
        <p:spPr>
          <a:xfrm>
            <a:off x="3181350" y="4657725"/>
            <a:ext cx="82486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rPr>
              <a:t>验证检核准确性、评价依据与面谈指导的可操作性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311A046-092A-4981-B158-30790EB24C86}"/>
              </a:ext>
            </a:extLst>
          </p:cNvPr>
          <p:cNvSpPr>
            <a:spLocks noGrp="1"/>
          </p:cNvSpPr>
          <p:nvPr/>
        </p:nvSpPr>
        <p:spPr>
          <a:xfrm>
            <a:off x="685800" y="5229225"/>
            <a:ext cx="5524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rPr>
              <a:t>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D80CC7B-1D9D-4963-80B3-588EB91CF1F3}"/>
              </a:ext>
            </a:extLst>
          </p:cNvPr>
          <p:cNvSpPr>
            <a:spLocks noGrp="1"/>
          </p:cNvSpPr>
          <p:nvPr/>
        </p:nvSpPr>
        <p:spPr>
          <a:xfrm>
            <a:off x="1362075" y="5229225"/>
            <a:ext cx="157162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有期限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872AFEF-786C-486B-A499-385624D8C09B}"/>
              </a:ext>
            </a:extLst>
          </p:cNvPr>
          <p:cNvSpPr>
            <a:spLocks noGrp="1"/>
          </p:cNvSpPr>
          <p:nvPr/>
        </p:nvSpPr>
        <p:spPr>
          <a:xfrm>
            <a:off x="3181350" y="5229225"/>
            <a:ext cx="82486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rPr>
              <a:t>W5演示三份输出，W8交付原型、测试与复盘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5F97DF8-6ADD-4815-8CA0-0B83F7B90E0B}"/>
              </a:ext>
            </a:extLst>
          </p:cNvPr>
          <p:cNvSpPr>
            <a:spLocks noGrp="1"/>
          </p:cNvSpPr>
          <p:nvPr/>
        </p:nvSpPr>
        <p:spPr>
          <a:xfrm>
            <a:off x="685800" y="600075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样本量为教学建议。验收看来源可追溯、意见有依据、面谈有提问与后续行动。</a:t>
            </a:r>
          </a:p>
        </p:txBody>
      </p:sp>
    </p:spTree>
    <p:extLst>
      <p:ext uri="{BB962C8B-B14F-4D97-AF65-F5344CB8AC3E}">
        <p14:creationId xmlns:p14="http://schemas.microsoft.com/office/powerpoint/2010/main" val="489262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E55CBC91-4655-40F4-B706-88FF3AF7A4FC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82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rPr>
              <a:t>把想法变成项目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5B2CB35-6A7F-4F55-92EA-56133586DA3F}"/>
              </a:ext>
            </a:extLst>
          </p:cNvPr>
          <p:cNvSpPr>
            <a:spLocks noGrp="1"/>
          </p:cNvSpPr>
          <p:nvPr/>
        </p:nvSpPr>
        <p:spPr>
          <a:xfrm>
            <a:off x="647700" y="762000"/>
            <a:ext cx="108966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范围边界：有依据的意见，由主管确认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EB1F66-EC66-41A3-923F-3CD01A350775}"/>
              </a:ext>
            </a:extLst>
          </p:cNvPr>
          <p:cNvSpPr>
            <a:spLocks noGrp="1"/>
          </p:cNvSpPr>
          <p:nvPr/>
        </p:nvSpPr>
        <p:spPr>
          <a:xfrm>
            <a:off x="685800" y="1552575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AI辅助分析与准备，最终绩效判断由主管负责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6409BA-6F4A-46CF-886E-C0C022C9669F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9239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中山大学岭南学院  /  校友导师制项目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FB781E4-AB87-4F73-8513-0A42567499C5}"/>
              </a:ext>
            </a:extLst>
          </p:cNvPr>
          <p:cNvSpPr>
            <a:spLocks noGrp="1"/>
          </p:cNvSpPr>
          <p:nvPr/>
        </p:nvSpPr>
        <p:spPr>
          <a:xfrm>
            <a:off x="10953750" y="6410325"/>
            <a:ext cx="5524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13" name="表格 12"/>
          <p:cNvGraphicFramePr/>
          <p:nvPr>
            <p:extLst>
              <p:ext uri="{D42A27DB-BD31-4B8C-83A1-F6EECF244321}">
                <p14:modId xmlns:p14="http://schemas.microsoft.com/office/powerpoint/2010/main" val="4033462122"/>
              </p:ext>
            </p:extLst>
          </p:nvPr>
        </p:nvGraphicFramePr>
        <p:xfrm>
          <a:off x="685800" y="2343150"/>
          <a:ext cx="9083180" cy="3190875"/>
        </p:xfrm>
        <a:graphic>
          <a:graphicData uri="http://schemas.openxmlformats.org/drawingml/2006/table">
            <a:tbl>
              <a:tblPr/>
              <a:tblGrid>
                <a:gridCol w="9083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D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本轮开发与运用</a:t>
                      </a:r>
                    </a:p>
                  </a:txBody>
                  <a:tcPr>
                    <a:solidFill>
                      <a:srgbClr val="164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输入模拟目标标准、自评及证据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逐项检核，标明一致、差异与待核实</a:t>
                      </a:r>
                    </a:p>
                  </a:txBody>
                  <a:tcPr>
                    <a:solidFill>
                      <a:srgbClr val="EF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生成有依据的评价意见与辅导建议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950" b="0" dirty="0" err="1">
                          <a:solidFill>
                            <a:srgbClr val="263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主管复核后导出面谈沟通指导文件</a:t>
                      </a:r>
                      <a:endParaRPr sz="1950" b="0" dirty="0">
                        <a:solidFill>
                          <a:srgbClr val="263F36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EF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614B567-F90D-4A6D-929E-569E62502AB6}"/>
              </a:ext>
            </a:extLst>
          </p:cNvPr>
          <p:cNvSpPr>
            <a:spLocks noGrp="1"/>
          </p:cNvSpPr>
          <p:nvPr/>
        </p:nvSpPr>
        <p:spPr>
          <a:xfrm>
            <a:off x="685800" y="5934075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真实试点需另行确认数据用途、授权与保存要求；本轮只使用完全虚构的材料。</a:t>
            </a:r>
          </a:p>
        </p:txBody>
      </p:sp>
    </p:spTree>
    <p:extLst>
      <p:ext uri="{BB962C8B-B14F-4D97-AF65-F5344CB8AC3E}">
        <p14:creationId xmlns:p14="http://schemas.microsoft.com/office/powerpoint/2010/main" val="1414308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F1116B8-EC0B-4D51-8F28-F1DF918620B8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82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rPr>
              <a:t>把想法变成项目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1F460AB-7B69-494E-B568-5B754E0A8B73}"/>
              </a:ext>
            </a:extLst>
          </p:cNvPr>
          <p:cNvSpPr>
            <a:spLocks noGrp="1"/>
          </p:cNvSpPr>
          <p:nvPr/>
        </p:nvSpPr>
        <p:spPr>
          <a:xfrm>
            <a:off x="647700" y="762000"/>
            <a:ext cx="108966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团队分工：业务检核、原型与面谈设计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CAF0095-992F-47F7-A314-8BF20A6CD2B2}"/>
              </a:ext>
            </a:extLst>
          </p:cNvPr>
          <p:cNvSpPr>
            <a:spLocks noGrp="1"/>
          </p:cNvSpPr>
          <p:nvPr/>
        </p:nvSpPr>
        <p:spPr>
          <a:xfrm>
            <a:off x="685800" y="1552575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5人团队示例，每项交付落实到姓名与截止时间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16226E-3978-4F2B-A672-521CC97B8937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9239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中山大学岭南学院  /  校友导师制项目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1328EEE-4F3F-4D0E-902F-19165E0863D8}"/>
              </a:ext>
            </a:extLst>
          </p:cNvPr>
          <p:cNvSpPr>
            <a:spLocks noGrp="1"/>
          </p:cNvSpPr>
          <p:nvPr/>
        </p:nvSpPr>
        <p:spPr>
          <a:xfrm>
            <a:off x="10953750" y="6410325"/>
            <a:ext cx="5524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685800" y="2286000"/>
          <a:ext cx="10820400" cy="3562350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37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</a:t>
                      </a:r>
                    </a:p>
                  </a:txBody>
                  <a:tcPr>
                    <a:solidFill>
                      <a:srgbClr val="164D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负责的工作</a:t>
                      </a:r>
                    </a:p>
                  </a:txBody>
                  <a:tcPr>
                    <a:solidFill>
                      <a:srgbClr val="164D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D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看得见的交付</a:t>
                      </a:r>
                    </a:p>
                  </a:txBody>
                  <a:tcPr>
                    <a:solidFill>
                      <a:srgbClr val="164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队长 / 导师联络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范围、进度、沟通与协调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立项书、任务与决策记录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流程与需求研究</a:t>
                      </a:r>
                    </a:p>
                  </a:txBody>
                  <a:tcPr>
                    <a:solidFill>
                      <a:srgbClr val="EF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梳理主管检核与绩效沟通场景</a:t>
                      </a:r>
                    </a:p>
                  </a:txBody>
                  <a:tcPr>
                    <a:solidFill>
                      <a:srgbClr val="EF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流程、字段与检核规则</a:t>
                      </a:r>
                    </a:p>
                  </a:txBody>
                  <a:tcPr>
                    <a:solidFill>
                      <a:srgbClr val="EF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原型开发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搭建输入、生成、复核与导出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可运行原型、版本说明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数据与测试</a:t>
                      </a:r>
                    </a:p>
                  </a:txBody>
                  <a:tcPr>
                    <a:solidFill>
                      <a:srgbClr val="EF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设计模拟自评、标准及证据</a:t>
                      </a:r>
                    </a:p>
                  </a:txBody>
                  <a:tcPr>
                    <a:solidFill>
                      <a:srgbClr val="EF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案例集、缺陷与复测记录</a:t>
                      </a:r>
                    </a:p>
                  </a:txBody>
                  <a:tcPr>
                    <a:solidFill>
                      <a:srgbClr val="EF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面谈设计与体验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设计沟通文件、组织角色试用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面谈模板、试用报告与说明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CD95309A-0C07-42FE-9C2E-EE14C4A1B856}"/>
              </a:ext>
            </a:extLst>
          </p:cNvPr>
          <p:cNvSpPr>
            <a:spLocks noGrp="1"/>
          </p:cNvSpPr>
          <p:nvPr/>
        </p:nvSpPr>
        <p:spPr>
          <a:xfrm>
            <a:off x="685800" y="603885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导师协助校准业务逻辑；全员参与测试，检查“有依据、可复核、能沟通”。</a:t>
            </a:r>
          </a:p>
        </p:txBody>
      </p:sp>
    </p:spTree>
    <p:extLst>
      <p:ext uri="{BB962C8B-B14F-4D97-AF65-F5344CB8AC3E}">
        <p14:creationId xmlns:p14="http://schemas.microsoft.com/office/powerpoint/2010/main" val="1830992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8B5105E9-C009-4C83-8C60-53BBAE92CD28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82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rPr>
              <a:t>把想法变成项目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3C322F-7CCE-42FD-BEE3-20402433A0A6}"/>
              </a:ext>
            </a:extLst>
          </p:cNvPr>
          <p:cNvSpPr>
            <a:spLocks noGrp="1"/>
          </p:cNvSpPr>
          <p:nvPr/>
        </p:nvSpPr>
        <p:spPr>
          <a:xfrm>
            <a:off x="647700" y="762000"/>
            <a:ext cx="108966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案例推演：从员工自评到主管评价草稿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F389FE-A9F9-4B2D-A743-F2EB9608668C}"/>
              </a:ext>
            </a:extLst>
          </p:cNvPr>
          <p:cNvSpPr>
            <a:spLocks noGrp="1"/>
          </p:cNvSpPr>
          <p:nvPr/>
        </p:nvSpPr>
        <p:spPr>
          <a:xfrm>
            <a:off x="685800" y="1552575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全页为模拟材料与预期输出，不是工具实测结果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07F7A50-D531-4EE0-AFD9-3CFBDD9C8057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9239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中山大学岭南学院  /  校友导师制项目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F69D0A3-78F2-4357-8953-9D9FD257FD8B}"/>
              </a:ext>
            </a:extLst>
          </p:cNvPr>
          <p:cNvSpPr>
            <a:spLocks noGrp="1"/>
          </p:cNvSpPr>
          <p:nvPr/>
        </p:nvSpPr>
        <p:spPr>
          <a:xfrm>
            <a:off x="10953750" y="6410325"/>
            <a:ext cx="5524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94E24DD-7320-414C-8329-C2921FC26159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51054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输入：标准、自评与证据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6785E80-A208-478A-B971-2C82CC33175D}"/>
              </a:ext>
            </a:extLst>
          </p:cNvPr>
          <p:cNvSpPr>
            <a:spLocks noGrp="1"/>
          </p:cNvSpPr>
          <p:nvPr/>
        </p:nvSpPr>
        <p:spPr>
          <a:xfrm>
            <a:off x="685800" y="3086100"/>
            <a:ext cx="5105400" cy="1952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rPr>
              <a:t>标准：本周期3份方案通过验收</a:t>
            </a:r>
          </a:p>
          <a:p>
            <a:pPr>
              <a:def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rPr>
              <a:t>自评：已全部完成，表现优秀</a:t>
            </a:r>
          </a:p>
          <a:p>
            <a:pPr>
              <a:def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rPr>
              <a:t>R01：2份已验收</a:t>
            </a:r>
          </a:p>
          <a:p>
            <a:pPr>
              <a:def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rPr>
              <a:t>R02：第3份仍在评审中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B466AC-84FA-4A09-96A1-F70F88B8E711}"/>
              </a:ext>
            </a:extLst>
          </p:cNvPr>
          <p:cNvSpPr>
            <a:spLocks noGrp="1"/>
          </p:cNvSpPr>
          <p:nvPr/>
        </p:nvSpPr>
        <p:spPr>
          <a:xfrm>
            <a:off x="6334125" y="2305050"/>
            <a:ext cx="5143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输出：检核与初步评价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CD5481-6F4B-4649-88B0-41708C31FF5F}"/>
              </a:ext>
            </a:extLst>
          </p:cNvPr>
          <p:cNvSpPr>
            <a:spLocks noGrp="1"/>
          </p:cNvSpPr>
          <p:nvPr/>
        </p:nvSpPr>
        <p:spPr>
          <a:xfrm>
            <a:off x="6334125" y="3086100"/>
            <a:ext cx="5143500" cy="1952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rPr>
              <a:t>检核：“全部完成”与证据不一致</a:t>
            </a:r>
          </a:p>
          <a:p>
            <a:pPr>
              <a:def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rPr>
              <a:t>肯定：已有2份通过验收〔R01〕</a:t>
            </a:r>
          </a:p>
          <a:p>
            <a:pPr>
              <a:def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rPr>
              <a:t>差距：第3份尚待验收〔R02〕</a:t>
            </a:r>
          </a:p>
          <a:p>
            <a:pPr>
              <a:def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rPr>
              <a:t>建议：核实进展与障碍，再定行动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C54CC1-D573-48D7-984A-1B4F51426C65}"/>
              </a:ext>
            </a:extLst>
          </p:cNvPr>
          <p:cNvSpPr>
            <a:spLocks noGrp="1"/>
          </p:cNvSpPr>
          <p:nvPr/>
        </p:nvSpPr>
        <p:spPr>
          <a:xfrm>
            <a:off x="685800" y="5267325"/>
            <a:ext cx="108204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rPr>
              <a:t>评价意见草稿：“已形成阶段成果，仍需核实剩余任务并明确支持。”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8C0B222-5424-4FF5-9846-44D398E082BF}"/>
              </a:ext>
            </a:extLst>
          </p:cNvPr>
          <p:cNvSpPr>
            <a:spLocks noGrp="1"/>
          </p:cNvSpPr>
          <p:nvPr/>
        </p:nvSpPr>
        <p:spPr>
          <a:xfrm>
            <a:off x="685800" y="603885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不据此认定“优秀”或“不合格”；需主管核实材料，并听取员工补充。</a:t>
            </a:r>
          </a:p>
        </p:txBody>
      </p:sp>
    </p:spTree>
    <p:extLst>
      <p:ext uri="{BB962C8B-B14F-4D97-AF65-F5344CB8AC3E}">
        <p14:creationId xmlns:p14="http://schemas.microsoft.com/office/powerpoint/2010/main" val="83727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F98D231E-419B-4B4B-9F31-9413DB58EC87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82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rPr>
              <a:t>把想法变成项目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082A55-3B06-442B-8581-C80082394D97}"/>
              </a:ext>
            </a:extLst>
          </p:cNvPr>
          <p:cNvSpPr>
            <a:spLocks noGrp="1"/>
          </p:cNvSpPr>
          <p:nvPr/>
        </p:nvSpPr>
        <p:spPr>
          <a:xfrm>
            <a:off x="647700" y="762000"/>
            <a:ext cx="108966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沟通指导文件：帮助主管把面谈谈具体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FE10B0D-CEAA-4464-A36C-3082E28FA61A}"/>
              </a:ext>
            </a:extLst>
          </p:cNvPr>
          <p:cNvSpPr>
            <a:spLocks noGrp="1"/>
          </p:cNvSpPr>
          <p:nvPr/>
        </p:nvSpPr>
        <p:spPr>
          <a:xfrm>
            <a:off x="685800" y="1552575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可编辑、可导出的面谈提纲，主管结合核实结果调整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AAE146-755F-4053-9427-C2E9C149F424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9239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中山大学岭南学院  /  校友导师制项目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D8298A4-51AB-4277-8BB7-3E4B5E375F6A}"/>
              </a:ext>
            </a:extLst>
          </p:cNvPr>
          <p:cNvSpPr>
            <a:spLocks noGrp="1"/>
          </p:cNvSpPr>
          <p:nvPr/>
        </p:nvSpPr>
        <p:spPr>
          <a:xfrm>
            <a:off x="10953750" y="6410325"/>
            <a:ext cx="5524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0FC1F6-4CB8-4B9A-88CA-FF376C2D94E5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233362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开场与自述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61FA11-A3E2-4FB5-95B4-F1FE152E452E}"/>
              </a:ext>
            </a:extLst>
          </p:cNvPr>
          <p:cNvSpPr>
            <a:spLocks noGrp="1"/>
          </p:cNvSpPr>
          <p:nvPr/>
        </p:nvSpPr>
        <p:spPr>
          <a:xfrm>
            <a:off x="3228975" y="2228850"/>
            <a:ext cx="827722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rPr>
              <a:t>“今天一起回顾目标和成果，你最想先谈哪一项？”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39906C2-0A6C-4E82-9952-ED1CB391EF86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233362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肯定与核实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841DA4D-9E31-454D-8C0C-F57748816C42}"/>
              </a:ext>
            </a:extLst>
          </p:cNvPr>
          <p:cNvSpPr>
            <a:spLocks noGrp="1"/>
          </p:cNvSpPr>
          <p:nvPr/>
        </p:nvSpPr>
        <p:spPr>
          <a:xfrm>
            <a:off x="3228975" y="3095625"/>
            <a:ext cx="827722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rPr>
              <a:t>“两份已验收。第三份目前进展怎样？有补充记录吗？”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A2592B-AAE3-40C9-B550-CCB79891BF79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233362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理解与辅导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9B664C-3A72-44B9-B8F6-23874C5499DD}"/>
              </a:ext>
            </a:extLst>
          </p:cNvPr>
          <p:cNvSpPr>
            <a:spLocks noGrp="1"/>
          </p:cNvSpPr>
          <p:nvPr/>
        </p:nvSpPr>
        <p:spPr>
          <a:xfrm>
            <a:off x="3228975" y="3962400"/>
            <a:ext cx="827722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rPr>
              <a:t>“遇到了什么障碍？哪些支持有帮助？你建议怎样推进？”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788547E-BC3A-4146-A83B-B71038BF8637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233362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行动与复盘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2AE8AED-1802-4266-A034-8E88A16B9FCA}"/>
              </a:ext>
            </a:extLst>
          </p:cNvPr>
          <p:cNvSpPr>
            <a:spLocks noGrp="1"/>
          </p:cNvSpPr>
          <p:nvPr/>
        </p:nvSpPr>
        <p:spPr>
          <a:xfrm>
            <a:off x="3228975" y="4829175"/>
            <a:ext cx="827722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rPr>
              <a:t>约定下一步任务、员工与主管各自责任、时间和复盘点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4121CF-6534-4A05-95E0-4AA81874A831}"/>
              </a:ext>
            </a:extLst>
          </p:cNvPr>
          <p:cNvSpPr>
            <a:spLocks noGrp="1"/>
          </p:cNvSpPr>
          <p:nvPr/>
        </p:nvSpPr>
        <p:spPr>
          <a:xfrm>
            <a:off x="685800" y="5781675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rPr>
              <a:t>文件包含：会前事实清单、提问与反馈话术、辅导建议、行动记录表。</a:t>
            </a:r>
          </a:p>
        </p:txBody>
      </p:sp>
    </p:spTree>
    <p:extLst>
      <p:ext uri="{BB962C8B-B14F-4D97-AF65-F5344CB8AC3E}">
        <p14:creationId xmlns:p14="http://schemas.microsoft.com/office/powerpoint/2010/main" val="897220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DED8DD6F-1625-40C9-8542-8E8014107EFF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82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rPr>
              <a:t>按节奏获得支持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7A4468A-93B9-48E0-BCCC-1D05B9139F05}"/>
              </a:ext>
            </a:extLst>
          </p:cNvPr>
          <p:cNvSpPr>
            <a:spLocks noGrp="1"/>
          </p:cNvSpPr>
          <p:nvPr/>
        </p:nvSpPr>
        <p:spPr>
          <a:xfrm>
            <a:off x="647700" y="762000"/>
            <a:ext cx="108966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你们来做项目，我们一起支持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E31C30-7BB0-4506-997E-D8D823336C80}"/>
              </a:ext>
            </a:extLst>
          </p:cNvPr>
          <p:cNvSpPr>
            <a:spLocks noGrp="1"/>
          </p:cNvSpPr>
          <p:nvPr/>
        </p:nvSpPr>
        <p:spPr>
          <a:xfrm>
            <a:off x="685800" y="1552575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先选题，再双向匹配；导师辅导1—2组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3EDADBC-C619-433F-85DD-396364D2202F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9239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中山大学岭南学院  /  校友导师制项目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0817CE-B1DA-494B-9C37-088D5D5DEEB2}"/>
              </a:ext>
            </a:extLst>
          </p:cNvPr>
          <p:cNvSpPr>
            <a:spLocks noGrp="1"/>
          </p:cNvSpPr>
          <p:nvPr/>
        </p:nvSpPr>
        <p:spPr>
          <a:xfrm>
            <a:off x="10953750" y="6410325"/>
            <a:ext cx="5524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74D3A8C-A21B-486C-BCAF-5F5214214F03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233362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学生团队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7A2637-8180-4E4A-A24F-62B8D0399B68}"/>
              </a:ext>
            </a:extLst>
          </p:cNvPr>
          <p:cNvSpPr>
            <a:spLocks noGrp="1"/>
          </p:cNvSpPr>
          <p:nvPr/>
        </p:nvSpPr>
        <p:spPr>
          <a:xfrm>
            <a:off x="3228975" y="2305050"/>
            <a:ext cx="827722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rPr>
              <a:t>自主选题与执行，带着材料、判断和问题求助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AAEA11-98D9-4DC0-BD8A-4289E35671BB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233362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校友导师</a:t>
            </a:r>
            <a:endParaRPr sz="2250" b="1" dirty="0">
              <a:solidFill>
                <a:srgbClr val="164D4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74A772-4625-487A-8F16-23DB9EC95F82}"/>
              </a:ext>
            </a:extLst>
          </p:cNvPr>
          <p:cNvSpPr>
            <a:spLocks noGrp="1"/>
          </p:cNvSpPr>
          <p:nvPr/>
        </p:nvSpPr>
        <p:spPr>
          <a:xfrm>
            <a:off x="3228975" y="3267075"/>
            <a:ext cx="827722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rPr>
              <a:t>教方法、看节点、提建议，条件允许时引荐资源</a:t>
            </a:r>
            <a:endParaRPr sz="2025" b="0" dirty="0">
              <a:solidFill>
                <a:srgbClr val="263F3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7BC3189-558A-4D3D-92AC-B6D150BD9F59}"/>
              </a:ext>
            </a:extLst>
          </p:cNvPr>
          <p:cNvSpPr>
            <a:spLocks noGrp="1"/>
          </p:cNvSpPr>
          <p:nvPr/>
        </p:nvSpPr>
        <p:spPr>
          <a:xfrm>
            <a:off x="685800" y="603885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导师每两周至少辅导一次（30—60分钟），并参与四场评审。</a:t>
            </a:r>
          </a:p>
        </p:txBody>
      </p:sp>
    </p:spTree>
    <p:extLst>
      <p:ext uri="{BB962C8B-B14F-4D97-AF65-F5344CB8AC3E}">
        <p14:creationId xmlns:p14="http://schemas.microsoft.com/office/powerpoint/2010/main" val="646034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9C0EF234-63D4-4B4C-91D8-077AA8CC981E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82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rPr>
              <a:t>按节奏获得支持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506FDC1-9F64-4CA4-B108-792B44D3B980}"/>
              </a:ext>
            </a:extLst>
          </p:cNvPr>
          <p:cNvSpPr>
            <a:spLocks noGrp="1"/>
          </p:cNvSpPr>
          <p:nvPr/>
        </p:nvSpPr>
        <p:spPr>
          <a:xfrm>
            <a:off x="647700" y="762000"/>
            <a:ext cx="108966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每周推进：有准备地讨论，有记录地改进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E143E6-032E-4A81-92F7-94CDE9DE6801}"/>
              </a:ext>
            </a:extLst>
          </p:cNvPr>
          <p:cNvSpPr>
            <a:spLocks noGrp="1"/>
          </p:cNvSpPr>
          <p:nvPr/>
        </p:nvSpPr>
        <p:spPr>
          <a:xfrm>
            <a:off x="685800" y="1552575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周报写清事实、问题与下一步，5分钟也能留下有效记录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A5DCB8-C4A3-406B-967A-F071F2F86672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9239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中山大学岭南学院  /  校友导师制项目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5F0C17-3C69-4744-AACD-0DC3D2D0F2D2}"/>
              </a:ext>
            </a:extLst>
          </p:cNvPr>
          <p:cNvSpPr>
            <a:spLocks noGrp="1"/>
          </p:cNvSpPr>
          <p:nvPr/>
        </p:nvSpPr>
        <p:spPr>
          <a:xfrm>
            <a:off x="10953750" y="6410325"/>
            <a:ext cx="5524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AB9B02C-0268-447A-BEA0-779229C0BE16}"/>
              </a:ext>
            </a:extLst>
          </p:cNvPr>
          <p:cNvSpPr>
            <a:spLocks noGrp="1"/>
          </p:cNvSpPr>
          <p:nvPr/>
        </p:nvSpPr>
        <p:spPr>
          <a:xfrm>
            <a:off x="685800" y="2362200"/>
            <a:ext cx="30670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20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每周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8B115B-46AF-4C73-A73C-8BA40FF05C1E}"/>
              </a:ext>
            </a:extLst>
          </p:cNvPr>
          <p:cNvSpPr>
            <a:spLocks noGrp="1"/>
          </p:cNvSpPr>
          <p:nvPr/>
        </p:nvSpPr>
        <p:spPr>
          <a:xfrm>
            <a:off x="685800" y="3381375"/>
            <a:ext cx="31813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rPr>
              <a:t>队内周会 30—45分钟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E1136F6-8648-42FA-9BAE-1819735393CA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3181350" cy="1266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完成了什么</a:t>
            </a:r>
          </a:p>
          <a:p>
            <a:pPr>
              <a:defRPr sz="20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下一步做什么</a:t>
            </a:r>
          </a:p>
          <a:p>
            <a:pPr>
              <a:defRPr sz="20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哪里需要帮助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E273960-9CD7-4A6A-A857-98BC60450A74}"/>
              </a:ext>
            </a:extLst>
          </p:cNvPr>
          <p:cNvSpPr>
            <a:spLocks noGrp="1"/>
          </p:cNvSpPr>
          <p:nvPr/>
        </p:nvSpPr>
        <p:spPr>
          <a:xfrm>
            <a:off x="4543425" y="2362200"/>
            <a:ext cx="30480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20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周日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A34F2DB-7FD9-4A1B-9FF4-B011A69BAF5A}"/>
              </a:ext>
            </a:extLst>
          </p:cNvPr>
          <p:cNvSpPr>
            <a:spLocks noGrp="1"/>
          </p:cNvSpPr>
          <p:nvPr/>
        </p:nvSpPr>
        <p:spPr>
          <a:xfrm>
            <a:off x="4543425" y="3381375"/>
            <a:ext cx="31432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rPr>
              <a:t>20:00前提交团队周报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2569B0-3C5F-4F33-A95F-DD590E8DB6C9}"/>
              </a:ext>
            </a:extLst>
          </p:cNvPr>
          <p:cNvSpPr>
            <a:spLocks noGrp="1"/>
          </p:cNvSpPr>
          <p:nvPr/>
        </p:nvSpPr>
        <p:spPr>
          <a:xfrm>
            <a:off x="4543425" y="4324350"/>
            <a:ext cx="3143250" cy="1266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本周完成</a:t>
            </a:r>
          </a:p>
          <a:p>
            <a:pPr>
              <a:defRPr sz="20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问题与风险</a:t>
            </a:r>
          </a:p>
          <a:p>
            <a:pPr>
              <a:defRPr sz="20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下周计划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61DB643-CBAE-4CAB-AD2C-A3531C193582}"/>
              </a:ext>
            </a:extLst>
          </p:cNvPr>
          <p:cNvSpPr>
            <a:spLocks noGrp="1"/>
          </p:cNvSpPr>
          <p:nvPr/>
        </p:nvSpPr>
        <p:spPr>
          <a:xfrm>
            <a:off x="8362950" y="2362200"/>
            <a:ext cx="3095625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20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双周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1771C7D-4D37-4625-8B69-07BB75BDD86D}"/>
              </a:ext>
            </a:extLst>
          </p:cNvPr>
          <p:cNvSpPr>
            <a:spLocks noGrp="1"/>
          </p:cNvSpPr>
          <p:nvPr/>
        </p:nvSpPr>
        <p:spPr>
          <a:xfrm>
            <a:off x="8362950" y="3381375"/>
            <a:ext cx="3095625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rPr>
              <a:t>导师辅导 30—60分钟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26A9C0-DC6E-4D05-ACCB-7FF056276A24}"/>
              </a:ext>
            </a:extLst>
          </p:cNvPr>
          <p:cNvSpPr>
            <a:spLocks noGrp="1"/>
          </p:cNvSpPr>
          <p:nvPr/>
        </p:nvSpPr>
        <p:spPr>
          <a:xfrm>
            <a:off x="8362950" y="4324350"/>
            <a:ext cx="3095625" cy="1266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提前准备材料</a:t>
            </a:r>
          </a:p>
          <a:p>
            <a:pPr>
              <a:defRPr sz="20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带上具体问题</a:t>
            </a:r>
          </a:p>
          <a:p>
            <a:pPr>
              <a:defRPr sz="20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记录建议与责任人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736485B-98CF-41FF-98D7-8445778A7C1A}"/>
              </a:ext>
            </a:extLst>
          </p:cNvPr>
          <p:cNvSpPr>
            <a:spLocks noGrp="1"/>
          </p:cNvSpPr>
          <p:nvPr/>
        </p:nvSpPr>
        <p:spPr>
          <a:xfrm>
            <a:off x="685800" y="6029325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周报每栏不超过5条，发送导师与组织方；组织方每两周汇总各组状态。</a:t>
            </a:r>
          </a:p>
        </p:txBody>
      </p:sp>
    </p:spTree>
    <p:extLst>
      <p:ext uri="{BB962C8B-B14F-4D97-AF65-F5344CB8AC3E}">
        <p14:creationId xmlns:p14="http://schemas.microsoft.com/office/powerpoint/2010/main" val="1787958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E6F3C13B-CA66-4619-BC3D-7B03A14CDA3B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82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B8050"/>
                </a:solidFill>
                <a:latin typeface="Microsoft YaHei"/>
                <a:ea typeface="Microsoft YaHei"/>
                <a:cs typeface="Microsoft YaHei"/>
              </a:rPr>
              <a:t>按节奏获得支持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DA9FA70-4626-4C90-BE3B-CD6F9A7E995C}"/>
              </a:ext>
            </a:extLst>
          </p:cNvPr>
          <p:cNvSpPr>
            <a:spLocks noGrp="1"/>
          </p:cNvSpPr>
          <p:nvPr/>
        </p:nvSpPr>
        <p:spPr>
          <a:xfrm>
            <a:off x="647700" y="762000"/>
            <a:ext cx="108966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 dirty="0" err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遇到困难，及时让项目组</a:t>
            </a:r>
            <a:r>
              <a:rPr lang="zh-CN" altLang="en-US" sz="3225" b="1" dirty="0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和导师</a:t>
            </a:r>
            <a:r>
              <a:rPr sz="3225" b="1" dirty="0" err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知道</a:t>
            </a:r>
            <a:endParaRPr sz="3225" b="1" dirty="0">
              <a:solidFill>
                <a:srgbClr val="164D4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BEA010-FE89-48E0-8523-48F6C845C123}"/>
              </a:ext>
            </a:extLst>
          </p:cNvPr>
          <p:cNvSpPr>
            <a:spLocks noGrp="1"/>
          </p:cNvSpPr>
          <p:nvPr/>
        </p:nvSpPr>
        <p:spPr>
          <a:xfrm>
            <a:off x="685800" y="1552575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红黄绿灯用于发现问题、安排支持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7EEAD31-5A03-4AE5-AA40-D768DFC4F31D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9239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中山大学岭南学院  /  校友导师制项目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64E65D-CEF1-4653-B358-C9D0F22B5B56}"/>
              </a:ext>
            </a:extLst>
          </p:cNvPr>
          <p:cNvSpPr>
            <a:spLocks noGrp="1"/>
          </p:cNvSpPr>
          <p:nvPr/>
        </p:nvSpPr>
        <p:spPr>
          <a:xfrm>
            <a:off x="10953750" y="6410325"/>
            <a:ext cx="5524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A88B41-984D-410F-BD07-4D6972C87988}"/>
              </a:ext>
            </a:extLst>
          </p:cNvPr>
          <p:cNvSpPr>
            <a:spLocks noGrp="1"/>
          </p:cNvSpPr>
          <p:nvPr/>
        </p:nvSpPr>
        <p:spPr>
          <a:xfrm>
            <a:off x="685800" y="22574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B76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B7658"/>
                </a:solidFill>
                <a:latin typeface="Microsoft YaHei"/>
                <a:ea typeface="Microsoft YaHei"/>
                <a:cs typeface="Microsoft YaHei"/>
              </a:rPr>
              <a:t>绿灯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B9079A3-3755-43CD-8D65-00725D4E3E24}"/>
              </a:ext>
            </a:extLst>
          </p:cNvPr>
          <p:cNvSpPr>
            <a:spLocks noGrp="1"/>
          </p:cNvSpPr>
          <p:nvPr/>
        </p:nvSpPr>
        <p:spPr>
          <a:xfrm>
            <a:off x="2743200" y="2286000"/>
            <a:ext cx="276225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进展正常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4F5827-5CAF-4221-89AA-6820C7006DDA}"/>
              </a:ext>
            </a:extLst>
          </p:cNvPr>
          <p:cNvSpPr>
            <a:spLocks noGrp="1"/>
          </p:cNvSpPr>
          <p:nvPr/>
        </p:nvSpPr>
        <p:spPr>
          <a:xfrm>
            <a:off x="5848350" y="2305050"/>
            <a:ext cx="5619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rPr>
              <a:t>按计划推进，保持交付与记录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EA4D72-0D2C-49A8-B37E-EA60E12FAEB4}"/>
              </a:ext>
            </a:extLst>
          </p:cNvPr>
          <p:cNvSpPr>
            <a:spLocks noGrp="1"/>
          </p:cNvSpPr>
          <p:nvPr/>
        </p:nvSpPr>
        <p:spPr>
          <a:xfrm>
            <a:off x="685800" y="32099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A677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A67729"/>
                </a:solidFill>
                <a:latin typeface="Microsoft YaHei"/>
                <a:ea typeface="Microsoft YaHei"/>
                <a:cs typeface="Microsoft YaHei"/>
              </a:rPr>
              <a:t>黄灯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F56616A-A57A-4624-9EC5-DFB45D4FAC0D}"/>
              </a:ext>
            </a:extLst>
          </p:cNvPr>
          <p:cNvSpPr>
            <a:spLocks noGrp="1"/>
          </p:cNvSpPr>
          <p:nvPr/>
        </p:nvSpPr>
        <p:spPr>
          <a:xfrm>
            <a:off x="2743200" y="3238500"/>
            <a:ext cx="276225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出现滞后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7039938-AAA9-4FAB-A23A-B335FBBE0916}"/>
              </a:ext>
            </a:extLst>
          </p:cNvPr>
          <p:cNvSpPr>
            <a:spLocks noGrp="1"/>
          </p:cNvSpPr>
          <p:nvPr/>
        </p:nvSpPr>
        <p:spPr>
          <a:xfrm>
            <a:off x="5848350" y="3257550"/>
            <a:ext cx="5619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rPr>
              <a:t>说清缺口、补救任务与完成时间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C7E8010-F12B-45CE-8E0E-925ACBD5D59C}"/>
              </a:ext>
            </a:extLst>
          </p:cNvPr>
          <p:cNvSpPr>
            <a:spLocks noGrp="1"/>
          </p:cNvSpPr>
          <p:nvPr/>
        </p:nvSpPr>
        <p:spPr>
          <a:xfrm>
            <a:off x="685800" y="4162425"/>
            <a:ext cx="16573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AF4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AF4F43"/>
                </a:solidFill>
                <a:latin typeface="Microsoft YaHei"/>
                <a:ea typeface="Microsoft YaHei"/>
                <a:cs typeface="Microsoft YaHei"/>
              </a:rPr>
              <a:t>红灯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6111804-8E3C-4ADA-B1F7-0E30EC568C15}"/>
              </a:ext>
            </a:extLst>
          </p:cNvPr>
          <p:cNvSpPr>
            <a:spLocks noGrp="1"/>
          </p:cNvSpPr>
          <p:nvPr/>
        </p:nvSpPr>
        <p:spPr>
          <a:xfrm>
            <a:off x="2743200" y="4191000"/>
            <a:ext cx="276225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明显停滞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9BF8DB2-6ABB-4A6E-BCE4-DBAA5608C65D}"/>
              </a:ext>
            </a:extLst>
          </p:cNvPr>
          <p:cNvSpPr>
            <a:spLocks noGrp="1"/>
          </p:cNvSpPr>
          <p:nvPr/>
        </p:nvSpPr>
        <p:spPr>
          <a:xfrm>
            <a:off x="5848350" y="4210050"/>
            <a:ext cx="5619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F36"/>
                </a:solidFill>
                <a:latin typeface="Microsoft YaHei"/>
                <a:ea typeface="Microsoft YaHei"/>
                <a:cs typeface="Microsoft YaHei"/>
              </a:rPr>
              <a:t>组织方介入，协调资源或调整范围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FF393B2-F1AD-4716-8254-3F1C026777AE}"/>
              </a:ext>
            </a:extLst>
          </p:cNvPr>
          <p:cNvSpPr>
            <a:spLocks noGrp="1"/>
          </p:cNvSpPr>
          <p:nvPr/>
        </p:nvSpPr>
        <p:spPr>
          <a:xfrm>
            <a:off x="685800" y="5372100"/>
            <a:ext cx="10820400" cy="657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4D40"/>
                </a:solidFill>
                <a:latin typeface="Microsoft YaHei"/>
                <a:ea typeface="Microsoft YaHei"/>
                <a:cs typeface="Microsoft YaHei"/>
              </a:rPr>
              <a:t>连续2周未交周报触发红灯；请尽早说明事实、影响和需要的帮助。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E459248-1F34-4648-818E-82F35AEFBCB8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97A70"/>
                </a:solidFill>
                <a:latin typeface="Microsoft YaHei"/>
                <a:ea typeface="Microsoft YaHei"/>
                <a:cs typeface="Microsoft YaHei"/>
              </a:rPr>
              <a:t>巡查灯号与评审结论分开：评审“修改后通过”须1周内补交，导师复核。</a:t>
            </a:r>
          </a:p>
        </p:txBody>
      </p:sp>
    </p:spTree>
    <p:extLst>
      <p:ext uri="{BB962C8B-B14F-4D97-AF65-F5344CB8AC3E}">
        <p14:creationId xmlns:p14="http://schemas.microsoft.com/office/powerpoint/2010/main" val="1111823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4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F8AA47E-D242-45FD-B651-B92C8C089316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9239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D9E3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9E3D6"/>
                </a:solidFill>
                <a:latin typeface="Microsoft YaHei"/>
                <a:ea typeface="Microsoft YaHei"/>
                <a:cs typeface="Microsoft YaHei"/>
              </a:rPr>
              <a:t>中山大学岭南学院  /  校友导师制项目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22487E0-ECE4-4EC9-96B4-80B277AC37D9}"/>
              </a:ext>
            </a:extLst>
          </p:cNvPr>
          <p:cNvSpPr>
            <a:spLocks noGrp="1"/>
          </p:cNvSpPr>
          <p:nvPr/>
        </p:nvSpPr>
        <p:spPr>
          <a:xfrm>
            <a:off x="10953750" y="6410325"/>
            <a:ext cx="5524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D9E3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9E3D6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FA8E77-F4FE-480C-8384-E5445CFBEC56}"/>
              </a:ext>
            </a:extLst>
          </p:cNvPr>
          <p:cNvSpPr>
            <a:spLocks noGrp="1"/>
          </p:cNvSpPr>
          <p:nvPr/>
        </p:nvSpPr>
        <p:spPr>
          <a:xfrm>
            <a:off x="2658718" y="2800350"/>
            <a:ext cx="108204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 dirty="0" err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rPr>
              <a:t>带着好奇心来</a:t>
            </a:r>
            <a:r>
              <a:rPr sz="2625" b="1" err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625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rPr>
              <a:t>带着一段实践经历回去</a:t>
            </a:r>
            <a:endParaRPr sz="2625" b="1" dirty="0">
              <a:solidFill>
                <a:srgbClr val="FFFDF7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86599934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1452</Words>
  <Application>Microsoft Office PowerPoint</Application>
  <DocSecurity>0</DocSecurity>
  <PresentationFormat>宽屏</PresentationFormat>
  <Paragraphs>295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Nicole Qiu</cp:lastModifiedBy>
  <cp:revision>2</cp:revision>
  <dcterms:created xsi:type="dcterms:W3CDTF">2026-09-11T11:44:26Z</dcterms:created>
  <dcterms:modified xsi:type="dcterms:W3CDTF">2026-09-11T12:17:19Z</dcterms:modified>
</cp:coreProperties>
</file>